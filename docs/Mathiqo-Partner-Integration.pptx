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548640"/>
            <a:ext cx="3291840" cy="3291840"/>
          </a:xfrm>
          <a:prstGeom prst="ellipse">
            <a:avLst/>
          </a:prstGeom>
          <a:solidFill>
            <a:srgbClr val="28337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69748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Integration Guide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REST access to the verified question bank and student mastery model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pre-stability · interface_version 1.0.0-pre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you're integrating with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your product no longer has to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7F9FD"/>
          </a:solidFill>
          <a:ln/>
          <a:effectLst>
            <a:outerShdw sx="100000" sy="100000" kx="0" ky="0" algn="bl" rotWithShape="0" blurRad="101600" dist="38100" dir="5400000">
              <a:srgbClr val="9AA5C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private/tmp/claude-501/-Users-rishi-Documents-Mathiqo/4effa030-8793-47ac-b80c-d83129736aa0/scratchpad/pptx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40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128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question bank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item is offline-authored, machine-solved, and tagged with the skill(s), difficulty, and per-distractor misconception it targets.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construct or grade mathematics — you request items and report outcomes.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7F9FD"/>
          </a:solidFill>
          <a:ln/>
          <a:effectLst>
            <a:outerShdw sx="100000" sy="100000" kx="0" ky="0" algn="bl" rotWithShape="0" blurRad="101600" dist="38100" dir="5400000">
              <a:srgbClr val="9AA5C8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1945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private/tmp/claude-501/-Users-rishi-Documents-Mathiqo/4effa030-8793-47ac-b80c-d83129736aa0/scratchpad/pptx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3408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128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mastery model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Per-skill ability estimates, certification status, and spaced-review scheduling.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every attempt any linked partner has ever submitted for that student — one shared record.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reachable through 16 operations, identical on MCP and REST, against the same underlying state.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contract, two transports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16 operations, same facade, same live session state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private/tmp/claude-501/-Users-rishi-Documents-Mathiqo/4effa030-8793-47ac-b80c-d83129736aa0/scratchpad/pptx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3408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2128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stdio process per partner — your identity is fixed at startup via --consumer-id.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when your orchestrator already speaks MCP.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per-call auth parameter — nothing can forge attribution.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21945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private/tmp/claude-501/-Users-rishi-Documents-Mathiqo/4effa030-8793-47ac-b80c-d83129736aa0/scratchpad/pptx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84" y="23408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128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4805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HTTP server, many partners — bearer token resolved per-request against a credential table.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 for shared multi-tenant deployments or non-MCP stacks.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OpenAPI docs at /docs and /openapi.json.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opened on one transport is immediately usable on the other — both are built from the same ServingFacade instance.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consumer_id is always server-resolved — never a caller-supplied parameter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private/tmp/claude-501/-Users-rishi-Documents-Mathiqo/4effa030-8793-47ac-b80c-d83129736aa0/scratchpad/pptx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0665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9202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— startup flag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7680960" cy="868680"/>
          </a:xfrm>
          <a:prstGeom prst="roundRect">
            <a:avLst>
              <a:gd name="adj" fmla="val 8421"/>
            </a:avLst>
          </a:prstGeom>
          <a:solidFill>
            <a:srgbClr val="141B47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5420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tools/mcp_server.py --banks-dir banks --logs-dir logs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--consumer-id partner.acme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private/tmp/claude-501/-Users-rishi-Documents-Mathiqo/4effa030-8793-47ac-b80c-d83129736aa0/scratchpad/pptx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3758184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3611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 — bearer token table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548640" y="4114800"/>
            <a:ext cx="7680960" cy="1417320"/>
          </a:xfrm>
          <a:prstGeom prst="roundRect">
            <a:avLst>
              <a:gd name="adj" fmla="val 5161"/>
            </a:avLst>
          </a:prstGeom>
          <a:solidFill>
            <a:srgbClr val="141B47"/>
          </a:solidFill>
          <a:ln/>
        </p:spPr>
      </p:sp>
      <p:sp>
        <p:nvSpPr>
          <p:cNvPr id="13" name="Text 9"/>
          <p:cNvSpPr/>
          <p:nvPr/>
        </p:nvSpPr>
        <p:spPr>
          <a:xfrm>
            <a:off x="777240" y="4224528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Authorization: Bearer &lt;token&gt;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credentials.json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"token-for-partner-acme": "partner.acme" }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503920" y="1920240"/>
            <a:ext cx="3108960" cy="3611880"/>
          </a:xfrm>
          <a:prstGeom prst="roundRect">
            <a:avLst>
              <a:gd name="adj" fmla="val 2941"/>
            </a:avLst>
          </a:prstGeom>
          <a:solidFill>
            <a:srgbClr val="F7F9FD"/>
          </a:solidFill>
          <a:ln/>
        </p:spPr>
      </p:sp>
      <p:sp>
        <p:nvSpPr>
          <p:cNvPr id="15" name="Text 11"/>
          <p:cNvSpPr/>
          <p:nvPr/>
        </p:nvSpPr>
        <p:spPr>
          <a:xfrm>
            <a:off x="8732520" y="21031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guarantees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8732520" y="251460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Missing/bad token -&gt; 401 before any route body runs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never echoed — not in responses, OpenAPI docs, or logs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default is loopback-only (127.0.0.1)</a:t>
            </a:r>
            <a:endParaRPr lang="en-US" sz="1200" dirty="0"/>
          </a:p>
          <a:p>
            <a:pPr marL="342900" indent="-342900">
              <a:lnSpc>
                <a:spcPct val="115000"/>
              </a:lnSpc>
              <a:buSzPct val="100000"/>
              <a:buChar char="●"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TLS are the deploying operator’s responsibility (v1)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student, many partners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 Mathiqo-issued identity; PII stays out of serving payloads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9F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private/tmp/claude-501/-Users-rishi-Documents-Mathiqo/4effa030-8793-47ac-b80c-d83129736aa0/scratchpad/pptx/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3865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register_student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644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Mints a new opaque student_id from your own attributes dict. Auto-links you. Attributes are never echoed back.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069080" y="29032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389120" y="1965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9FD"/>
          </a:solidFill>
          <a:ln/>
        </p:spPr>
      </p:sp>
      <p:sp>
        <p:nvSpPr>
          <p:cNvPr id="11" name="Shape 8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private/tmp/claude-501/-Users-rishi-Documents-Mathiqo/4effa030-8793-47ac-b80c-d83129736aa0/scratchpad/pptx/icons/l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3865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link_student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63440" y="32644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consumer attaches by re-supplying the exact registration attributes — the id alone is never enough proof.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7909560" y="29032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229600" y="1965960"/>
            <a:ext cx="3520440" cy="2331720"/>
          </a:xfrm>
          <a:prstGeom prst="roundRect">
            <a:avLst>
              <a:gd name="adj" fmla="val 3922"/>
            </a:avLst>
          </a:prstGeom>
          <a:solidFill>
            <a:srgbClr val="F7F9FD"/>
          </a:solidFill>
          <a:ln/>
        </p:spPr>
      </p:sp>
      <p:sp>
        <p:nvSpPr>
          <p:cNvPr id="17" name="Shape 13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private/tmp/claude-501/-Users-rishi-Documents-Mathiqo/4effa030-8793-47ac-b80c-d83129736aa0/scratchpad/pptx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38658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03920" y="28803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find_student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503920" y="3264408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Exact-match lookup only. Returns found + student_id, never the attributes.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46177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754880"/>
            <a:ext cx="10241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 everywhere it matters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68680" y="507492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identity registry is configured, every student-scoped operation (open_session, submit_attempt, get_student_progress, fetch_batch, ...) is refused with not_linked unless your consumer_id is linked to the target student.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 discovery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Student-independent — build a chapter picker before you know the student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219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private/tmp/claude-501/-Users-rishi-Documents-Mathiqo/4effa030-8793-47ac-b80c-d83129736aa0/scratchpad/pptx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236829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072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list_curricula()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(country, curriculum, grade) triple Mathiqo covers.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136392" y="318211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D"/>
          </a:solidFill>
          <a:ln/>
        </p:spPr>
      </p:sp>
      <p:sp>
        <p:nvSpPr>
          <p:cNvPr id="11" name="Shape 8"/>
          <p:cNvSpPr/>
          <p:nvPr/>
        </p:nvSpPr>
        <p:spPr>
          <a:xfrm>
            <a:off x="3666744" y="22219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2" name="Image 1" descr="/private/tmp/claude-501/-Users-rishi-Documents-Mathiqo/4effa030-8793-47ac-b80c-d83129736aa0/scratchpad/pptx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8" y="2368296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9312" y="28072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list_units(...)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639312" y="33375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list, built from structured unit_code/unit_name — never parsed text.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998464" y="318211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272784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528816" y="22219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/private/tmp/claude-501/-Users-rishi-Documents-Mathiqo/4effa030-8793-47ac-b80c-d83129736aa0/scratchpad/pptx/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68296"/>
            <a:ext cx="164592" cy="1645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01384" y="28072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list_skills(...)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501384" y="33375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Curriculum-local presentation: objective, depth, terminology overrides.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860536" y="318211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134856" y="1965960"/>
            <a:ext cx="2606040" cy="2834640"/>
          </a:xfrm>
          <a:prstGeom prst="roundRect">
            <a:avLst>
              <a:gd name="adj" fmla="val 3509"/>
            </a:avLst>
          </a:prstGeom>
          <a:solidFill>
            <a:srgbClr val="F7F9FD"/>
          </a:solidFill>
          <a:ln/>
        </p:spPr>
      </p:sp>
      <p:sp>
        <p:nvSpPr>
          <p:cNvPr id="23" name="Shape 18"/>
          <p:cNvSpPr/>
          <p:nvPr/>
        </p:nvSpPr>
        <p:spPr>
          <a:xfrm>
            <a:off x="9390888" y="222199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4" name="Image 3" descr="/private/tmp/claude-501/-Users-rishi-Documents-Mathiqo/4effa030-8793-47ac-b80c-d83129736aa0/scratchpad/pptx/icons/cub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7192" y="2368296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363456" y="28072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get_skill_graph(...)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363456" y="333756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Canonical, curriculum-neutral: prerequisites, strand, misconceptions.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5074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unrecognized scope is always a result, never an error — an uncovered curriculum simply comes back empty.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54864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catalog/graph response carries content_version — the content-pack build it was served from.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serving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-&gt; batch -&gt; submit -&gt; refill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8337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468880" y="23134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private/tmp/claude-501/-Users-rishi-Documents-Mathiqo/4effa030-8793-47ac-b80c-d83129736aa0/scratchpad/pptx/icons/exchan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5184" y="2459736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open_session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35204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to the active bank build + curriculum context for the session’s whole life.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136392" y="345643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410712" y="21488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83372"/>
          </a:solidFill>
          <a:ln/>
        </p:spPr>
      </p:sp>
      <p:sp>
        <p:nvSpPr>
          <p:cNvPr id="12" name="Text 9"/>
          <p:cNvSpPr/>
          <p:nvPr/>
        </p:nvSpPr>
        <p:spPr>
          <a:xfrm>
            <a:off x="3593592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330952" y="23134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4" name="Image 1" descr="/private/tmp/claude-501/-Users-rishi-Documents-Mathiqo/4effa030-8793-47ac-b80c-d83129736aa0/scratchpad/pptx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6" y="2459736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93592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fetch_batch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593592" y="35204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difficulty-laddered working set — up to 20 items, one round trip.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5998464" y="345643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4"/>
          <p:cNvSpPr/>
          <p:nvPr/>
        </p:nvSpPr>
        <p:spPr>
          <a:xfrm>
            <a:off x="6272784" y="21488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83372"/>
          </a:solidFill>
          <a:ln/>
        </p:spPr>
      </p:sp>
      <p:sp>
        <p:nvSpPr>
          <p:cNvPr id="19" name="Text 15"/>
          <p:cNvSpPr/>
          <p:nvPr/>
        </p:nvSpPr>
        <p:spPr>
          <a:xfrm>
            <a:off x="6455664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193024" y="23134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2" descr="/private/tmp/claude-501/-Users-rishi-Documents-Mathiqo/4effa030-8793-47ac-b80c-d83129736aa0/scratchpad/pptx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8" y="2459736"/>
            <a:ext cx="164592" cy="164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55664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submit_attempt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455664" y="35204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on attempt_id — safe to retry after a crash or restart.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860536" y="3456432"/>
            <a:ext cx="292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0"/>
          <p:cNvSpPr/>
          <p:nvPr/>
        </p:nvSpPr>
        <p:spPr>
          <a:xfrm>
            <a:off x="9134856" y="214884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283372"/>
          </a:solidFill>
          <a:ln/>
        </p:spPr>
      </p:sp>
      <p:sp>
        <p:nvSpPr>
          <p:cNvPr id="26" name="Text 21"/>
          <p:cNvSpPr/>
          <p:nvPr/>
        </p:nvSpPr>
        <p:spPr>
          <a:xfrm>
            <a:off x="9317736" y="2313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11055096" y="231343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3" descr="/private/tmp/claude-501/-Users-rishi-Documents-Mathiqo/4effa030-8793-47ac-b80c-d83129736aa0/scratchpad/pptx/icons/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1400" y="2459736"/>
            <a:ext cx="164592" cy="16459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317736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refill_batch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317736" y="3520440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from live state; supersede flags a material policy change.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48640" y="5440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recommend_next and get_student_progress are session-less — call them any time, from any linked consumer.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fetch_batch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laddered working set, a branching policy, and misconception feedback — in one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0391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386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"probe"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069080" y="1965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0391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51960" y="2386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"practice"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1965960"/>
            <a:ext cx="32918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0391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23865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"practice"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2834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 rungs — the context you must submit each item back under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1546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"probe" on easier/step-down items avoids double-diagnosing what the server’s own step-down engine already tracks.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7F9F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Branching policy object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policy_version, floor (fallback sequence), low_water (client-side refill hint), and rules for on_correct / on_incorrect_tagged / on_incorrect_untagged / on_buffer_low — lets the client branch between answers without a round trip.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0" y="416052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7F9FD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feedback_sidecar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7548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misconception reachable from any distractor in this batch, mapped to child-facing feedback text — an incorrect answer can show feedback immediately, no extra round trip.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signals. One taxonomy. Both transports.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orchestrator/signals.py — the single definition site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448056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6858000"/>
              </a:tblGrid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unknown_skill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skill_id not in the content graph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empty_pool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+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skill, no bank instances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exhausted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+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Pool fully seen; one repeat returned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no_further_items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+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Refill produced zero new items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session_conflict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session already open under a different consumer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session_unknown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session_id never issued by this server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session_expired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Idle-evicted after 30 min TTL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not_linked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consumer_id has no link to this student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ingest_rejected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 failed validation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3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discarded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7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+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by abandonment guard, deliberately not logged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version fields, four different things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interchangeable — all pre-stability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7F9F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94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interface_version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server_info (MCP only)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MCP/REST contract itself — this guide’s shape.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10712" y="19659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2194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content_version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93592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graph, recommendation, batch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93592" y="36576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content-pack manifest build.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72784" y="19659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7F9FD"/>
          </a:solidFill>
          <a:ln/>
        </p:spPr>
      </p:sp>
      <p:sp>
        <p:nvSpPr>
          <p:cNvPr id="13" name="Text 11"/>
          <p:cNvSpPr/>
          <p:nvPr/>
        </p:nvSpPr>
        <p:spPr>
          <a:xfrm>
            <a:off x="6455664" y="2194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bank_version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55664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batch, candidate responses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55664" y="36576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item bank a session is pinned 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34856" y="196596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317736" y="219456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policy_version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17736" y="29260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policy object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17736" y="3657600"/>
            <a:ext cx="2240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client-side branching-policy shape.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on every call rather than assuming a cached shape stays valid — any of the four can advance independently as content and bank pipelines ship new builds.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Sixteen operations, one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&lt;-&gt; REST route, at a glance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46120" cy="4480560"/>
          </a:xfrm>
          <a:prstGeom prst="roundRect">
            <a:avLst>
              <a:gd name="adj" fmla="val 2817"/>
            </a:avLst>
          </a:prstGeom>
          <a:solidFill>
            <a:srgbClr val="F7F9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74520"/>
            <a:ext cx="32461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24612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7452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Serving / ingest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514600"/>
            <a:ext cx="291693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open_session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get_candidates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submit_attempt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close_session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close_session_by_student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get_student_progress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recommend_next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0792" y="1874520"/>
            <a:ext cx="2514600" cy="448056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/>
        </p:spPr>
      </p:sp>
      <p:sp>
        <p:nvSpPr>
          <p:cNvPr id="10" name="Shape 8"/>
          <p:cNvSpPr/>
          <p:nvPr/>
        </p:nvSpPr>
        <p:spPr>
          <a:xfrm>
            <a:off x="4050792" y="187452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050792" y="2148840"/>
            <a:ext cx="25146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187952" y="18745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15384" y="2514600"/>
            <a:ext cx="21854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register_student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link_student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find_student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21424" y="1874520"/>
            <a:ext cx="2514600" cy="448056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/>
        </p:spPr>
      </p:sp>
      <p:sp>
        <p:nvSpPr>
          <p:cNvPr id="15" name="Shape 13"/>
          <p:cNvSpPr/>
          <p:nvPr/>
        </p:nvSpPr>
        <p:spPr>
          <a:xfrm>
            <a:off x="6821424" y="1874520"/>
            <a:ext cx="251460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6821424" y="2148840"/>
            <a:ext cx="251460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958584" y="18745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86016" y="2514600"/>
            <a:ext cx="218541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list_curricula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list_units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list_skills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get_skill_graph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592056" y="1874520"/>
            <a:ext cx="2148840" cy="4480560"/>
          </a:xfrm>
          <a:prstGeom prst="roundRect">
            <a:avLst>
              <a:gd name="adj" fmla="val 4255"/>
            </a:avLst>
          </a:prstGeom>
          <a:solidFill>
            <a:srgbClr val="F7F9FD"/>
          </a:solidFill>
          <a:ln/>
        </p:spPr>
      </p:sp>
      <p:sp>
        <p:nvSpPr>
          <p:cNvPr id="20" name="Shape 18"/>
          <p:cNvSpPr/>
          <p:nvPr/>
        </p:nvSpPr>
        <p:spPr>
          <a:xfrm>
            <a:off x="9592056" y="1874520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9592056" y="2148840"/>
            <a:ext cx="2148840" cy="228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729216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756648" y="2514600"/>
            <a:ext cx="1819656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fetch_batch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refill_batch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request/response detail, HTTP routes, and JSON Schema links: see the partner integration guide, §9 &amp; §10.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v1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so you can plan around them — not surprises waiting in testing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37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/private/tmp/claude-501/-Users-rishi-Documents-Mathiqo/4effa030-8793-47ac-b80c-d83129736aa0/scratchpad/pptx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432304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native rate limiting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find_student (and other reads) — sit behind your own gateway-level limiting for now.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17920" y="201168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372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2860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/private/tmp/claude-501/-Users-rishi-Documents-Mathiqo/4effa030-8793-47ac-b80c-d83129736aa0/scratchpad/pptx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432304"/>
            <a:ext cx="164592" cy="1645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2860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TLS termination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92240" y="288036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REST server behind your own reverse proxy for any non-loopback deployment.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1148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372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/private/tmp/claude-501/-Users-rishi-Documents-Mathiqo/4effa030-8793-47ac-b80c-d83129736aa0/scratchpad/pptx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535424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OpenAPI is auto-derived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296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wired to schemas/api/*.schema.json as the single source of truth — the two are consistent today but validated independently.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17920" y="41148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283372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43891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/private/tmp/claude-501/-Users-rishi-Documents-Mathiqo/4effa030-8793-47ac-b80c-d83129736aa0/scratchpad/pptx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535424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pre-stability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92240" y="498348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additive changes before general availability — build clients to tolerate unrecognized fields/enum values gracefully.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started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7F9F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credentials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consumer_id (MCP) or bearer token (REST) from Mathiqo.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7F9FD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63440" y="2880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or link students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3291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mastery record per student, across every group they belong 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9659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7F9FD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22402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503920" y="2880360"/>
            <a:ext cx="2971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Discover, then serve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03920" y="329184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catalog, open a session, and start pulling batches.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617720"/>
            <a:ext cx="1088136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868680" y="4864608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0" name="Image 0" descr="/private/tmp/claude-501/-Users-rishi-Documents-Mathiqo/4effa030-8793-47ac-b80c-d83129736aa0/scratchpad/pptx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5010912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691640" y="475488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technical detail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691640" y="5120640"/>
            <a:ext cx="9418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schema reference, curl/Python snippets, and every response shape: docs/partner-integration-guide.md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Mathiqo Partner Integration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2026-07-28T18:02:50Z</dcterms:created>
  <dcterms:modified xsi:type="dcterms:W3CDTF">2026-07-28T18:02:50Z</dcterms:modified>
</cp:coreProperties>
</file>